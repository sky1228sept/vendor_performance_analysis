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Heebo Thin"/>
      <p:regular r:id="rId201314"/>
    </p:embeddedFont>
    <p:embeddedFont>
      <p:font typeface="Heebo ExtraLight"/>
      <p:regular r:id="rId201315"/>
    </p:embeddedFont>
    <p:embeddedFont>
      <p:font typeface="Heebo Light"/>
      <p:regular r:id="rId201316"/>
    </p:embeddedFont>
    <p:embeddedFont>
      <p:font typeface="Heebo"/>
      <p:regular r:id="rId201317"/>
    </p:embeddedFont>
    <p:embeddedFont>
      <p:font typeface="Heebo Medium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ExtraBold"/>
      <p:regular r:id="rId201321"/>
    </p:embeddedFont>
    <p:embeddedFont>
      <p:font typeface="Heebo Black"/>
      <p:regular r:id="rId201322"/>
    </p:embeddedFont>
    <p:embeddedFont>
      <p:font typeface="Montserrat Thin"/>
      <p:regular r:id="rId201323"/>
    </p:embeddedFont>
    <p:embeddedFont>
      <p:font typeface="Montserrat"/>
      <p:regular r:id="rId201324"/>
    </p:embeddedFont>
    <p:embeddedFont>
      <p:font typeface="Montserrat SemiBold"/>
      <p:regular r:id="rId201325"/>
    </p:embeddedFont>
    <p:embeddedFont>
      <p:font typeface="Montserrat Bold"/>
      <p:regular r:id="rId201326"/>
    </p:embeddedFont>
    <p:embeddedFont>
      <p:font typeface="Montserrat Black"/>
      <p:regular r:id="rId201327"/>
    </p:embeddedFont>
    <p:embeddedFont>
      <p:font typeface="Montserrat Light"/>
      <p:regular r:id="rId201328"/>
    </p:embeddedFont>
    <p:embeddedFont>
      <p:font typeface="Montserrat ExtraLight"/>
      <p:regular r:id="rId201329"/>
    </p:embeddedFont>
    <p:embeddedFont>
      <p:font typeface="Montserrat Medium"/>
      <p:regular r:id="rId201330"/>
    </p:embeddedFont>
    <p:embeddedFont>
      <p:font typeface="Montserrat ExtraBold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22413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Vendor Performance Analysis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495996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Exploratory Data Analysis Insights — uncovering patterns in vendor profitability, inventory efficiency, and purchasing behavior to drive strategic business decisions.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3032447"/>
            <a:ext cx="872654" cy="188565"/>
          </a:xfrm>
          <a:prstGeom prst="roundRect">
            <a:avLst>
              <a:gd name="adj" fmla="val 22104"/>
            </a:avLst>
          </a:prstGeom>
          <a:solidFill>
            <a:srgbClr val="1E0C41"/>
          </a:solidFill>
          <a:ln/>
        </p:spPr>
      </p:sp>
      <p:sp>
        <p:nvSpPr>
          <p:cNvPr id="6" name="Shape 3"/>
          <p:cNvSpPr/>
          <p:nvPr/>
        </p:nvSpPr>
        <p:spPr>
          <a:xfrm>
            <a:off x="570533" y="3077096"/>
            <a:ext cx="99194" cy="99194"/>
          </a:xfrm>
          <a:prstGeom prst="rect">
            <a:avLst/>
          </a:prstGeom>
          <a:solidFill>
            <a:srgbClr val="DCD7E5"/>
          </a:solidFill>
          <a:ln/>
        </p:spPr>
      </p:sp>
      <p:sp>
        <p:nvSpPr>
          <p:cNvPr id="7" name="Text 4"/>
          <p:cNvSpPr/>
          <p:nvPr/>
        </p:nvSpPr>
        <p:spPr>
          <a:xfrm>
            <a:off x="719286" y="3069654"/>
            <a:ext cx="1032272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EDA REPORT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1430759" y="3032447"/>
            <a:ext cx="809774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05173" y="3069654"/>
            <a:ext cx="111814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DATA SCIENCE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1298"/>
            <a:ext cx="815176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 Statistics &amp; Distribution Plots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900857"/>
            <a:ext cx="395294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Numerical Columns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140172"/>
            <a:ext cx="3952949" cy="43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Distribution plots reveal the spread and skewness of core metrics including purchase price, actual price, freight cost, gross profit, and stock turnover — providing the foundation for deeper analysis.</a:t>
            </a:r>
            <a:endParaRPr lang="en-US" sz="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695" y="911126"/>
            <a:ext cx="3815804" cy="2294111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216" y="3455715"/>
            <a:ext cx="1209452" cy="1209452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258" y="3455715"/>
            <a:ext cx="1209452" cy="12094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5414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Negative &amp; Zero Value Findings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416546"/>
            <a:ext cx="4722763" cy="9417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20530" y="1554807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Gross Profit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120530" y="1823070"/>
            <a:ext cx="43890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Minimum value of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-3,528,878.25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indicates significant losses. Certain products are sold below procurement cost, pointing to pricing or sourcing issues.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482230"/>
            <a:ext cx="4722763" cy="11401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20530" y="2620491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Profit Margin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120530" y="2888754"/>
            <a:ext cx="43890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Minimum of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-5,379,399.71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reveals transactions where revenue is zero or insufficient to cover costs — driven by high operating costs, returns, or expense-heavy transactions.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746376"/>
            <a:ext cx="4722763" cy="9417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20530" y="3884637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Quantity &amp; Dollars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120530" y="4152900"/>
            <a:ext cx="43890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Minimum of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0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shows products purchased but never sold. These represent slow-moving or obsolete inventory, increasing holding costs and reducing efficiency.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9490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Outliers &amp; High Standard Deviations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2130475"/>
            <a:ext cx="2634555" cy="1518047"/>
          </a:xfrm>
          <a:prstGeom prst="roundRect">
            <a:avLst>
              <a:gd name="adj" fmla="val 343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4855" y="2259211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Purchase &amp; Actual Prices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4855" y="2527474"/>
            <a:ext cx="23770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Max values (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5,681.81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7,499.99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 far exceed means (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24.39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35.64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), indicating highly skewed distributions with premium high-value products.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54648" y="2130475"/>
            <a:ext cx="2634630" cy="1518047"/>
          </a:xfrm>
          <a:prstGeom prst="roundRect">
            <a:avLst>
              <a:gd name="adj" fmla="val 343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384" y="2259211"/>
            <a:ext cx="23771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Freight Cost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384" y="2527474"/>
            <a:ext cx="2377157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Range from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0.09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to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257,032.07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reflects wide variability in transaction sizes — from small shipments to large bulk orders, highlighting logistics planning opportunities.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13252" y="2130475"/>
            <a:ext cx="2634555" cy="1518047"/>
          </a:xfrm>
          <a:prstGeom prst="roundRect">
            <a:avLst>
              <a:gd name="adj" fmla="val 343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1988" y="2259211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 Turnover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41988" y="2527474"/>
            <a:ext cx="23770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Values range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0 to 102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Zero indicates stagnant inventory; values above 1 show sales fulfilled from prior stock rather than current purchases.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7560"/>
            <a:ext cx="815176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Filtering &amp; Correlation Insights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23565" y="795263"/>
            <a:ext cx="4098057" cy="1604367"/>
          </a:xfrm>
          <a:prstGeom prst="roundRect">
            <a:avLst>
              <a:gd name="adj" fmla="val 4523"/>
            </a:avLst>
          </a:prstGeom>
          <a:solidFill>
            <a:srgbClr val="481C9E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24321" y="877119"/>
            <a:ext cx="38965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Filtering Applied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24321" y="1116434"/>
            <a:ext cx="4353744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 enhance reliability, inconsistent data points were removed: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24321" y="1336179"/>
            <a:ext cx="3896544" cy="495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Gross Profit ≤ 0 (loss-making transactions)</a:t>
            </a:r>
            <a:endParaRPr lang="en-US" sz="750" dirty="0"/>
          </a:p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Profit Margin ≤ 0 (unprofitable transactions)</a:t>
            </a:r>
            <a:endParaRPr lang="en-US" sz="750" dirty="0"/>
          </a:p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Total Sales Quantity = 0 (unsold inventory)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699695" y="877119"/>
            <a:ext cx="395294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Correlation Highlights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99695" y="1116434"/>
            <a:ext cx="3952949" cy="1254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Purchase Price</a:t>
            </a:r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has weak correlations with Total Sales Dollars and Gross Profit — price variations don't significantly impact revenue or profit.</a:t>
            </a:r>
            <a:endParaRPr lang="en-US" sz="750" dirty="0"/>
          </a:p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Strong correlation</a:t>
            </a:r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between total purchase and sales quantity confirms efficient inventory turnover.</a:t>
            </a:r>
            <a:endParaRPr lang="en-US" sz="750" dirty="0"/>
          </a:p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Negative correlation</a:t>
            </a:r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between profit margin and total sales price suggests competitive pricing pressures.</a:t>
            </a:r>
            <a:endParaRPr lang="en-US" sz="750" dirty="0"/>
          </a:p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Stock Turnover</a:t>
            </a:r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shows weak negative correlations with Gross Profit and Profit Margin — faster turnover doesn't guarantee higher profitability.</a:t>
            </a:r>
            <a:endParaRPr lang="en-US" sz="7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491755"/>
            <a:ext cx="2856905" cy="22941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037"/>
            <a:ext cx="798909" cy="123676"/>
          </a:xfrm>
          <a:prstGeom prst="roundRect">
            <a:avLst>
              <a:gd name="adj" fmla="val 22116"/>
            </a:avLst>
          </a:prstGeom>
          <a:solidFill>
            <a:srgbClr val="1E0C41"/>
          </a:solidFill>
          <a:ln/>
        </p:spPr>
      </p:sp>
      <p:sp>
        <p:nvSpPr>
          <p:cNvPr id="3" name="Text 1"/>
          <p:cNvSpPr/>
          <p:nvPr/>
        </p:nvSpPr>
        <p:spPr>
          <a:xfrm>
            <a:off x="544934" y="413445"/>
            <a:ext cx="1158478" cy="74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RESEARCH QUESTION 1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34070"/>
            <a:ext cx="8151763" cy="25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Brands for Promotional or Pricing Adjustment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6119" y="916558"/>
            <a:ext cx="4394076" cy="215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Certain brands exhibit </a:t>
            </a:r>
            <a:pPr algn="l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lower sales volumes but higher profit margins</a:t>
            </a:r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These represent an opportunity for targeted marketing, promotions, or price optimizations to increase volume without compromising profitability.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496119" y="1192262"/>
            <a:ext cx="4394076" cy="244599"/>
          </a:xfrm>
          <a:prstGeom prst="roundRect">
            <a:avLst>
              <a:gd name="adj" fmla="val 13978"/>
            </a:avLst>
          </a:prstGeom>
          <a:solidFill>
            <a:srgbClr val="31136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453" y="1298897"/>
            <a:ext cx="101724" cy="813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0512" y="1260649"/>
            <a:ext cx="4505548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Strategic focus on these brands can unlock latent revenue potential while preserving strong margin performance.</a:t>
            </a:r>
            <a:endParaRPr lang="en-US" sz="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494" y="928539"/>
            <a:ext cx="1796802" cy="185291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901553"/>
            <a:ext cx="2977828" cy="18529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9374"/>
            <a:ext cx="8151763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Vendors &amp; Bulk Purchasing Impact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940594"/>
            <a:ext cx="394111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Vendor Concentration Risk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96119" y="1211610"/>
            <a:ext cx="3941118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top 10 vendors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contribute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76.33%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of total purchases, while all remaining vendors account for only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23.67%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This over-reliance introduces supply chain disruption risks and signals a need for vendor diversification.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1526" y="952872"/>
            <a:ext cx="3881363" cy="25147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6570" y="3688928"/>
            <a:ext cx="4100215" cy="1105123"/>
          </a:xfrm>
          <a:prstGeom prst="roundRect">
            <a:avLst>
              <a:gd name="adj" fmla="val 7198"/>
            </a:avLst>
          </a:prstGeom>
          <a:solidFill>
            <a:srgbClr val="481C9E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27000" y="3787304"/>
            <a:ext cx="387935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Bulk Pricing Advantage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27000" y="4058320"/>
            <a:ext cx="3879354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Vendors buying in large quantities receive a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72% lower unit cost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$11.93 per unit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vs. higher costs in smaller orders. Bulk pricing strategies encourage larger orders, increasing total sales while maintaining profitability.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526" y="3799582"/>
            <a:ext cx="3569791" cy="8838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3576"/>
            <a:ext cx="1218381" cy="188565"/>
          </a:xfrm>
          <a:prstGeom prst="roundRect">
            <a:avLst>
              <a:gd name="adj" fmla="val 22104"/>
            </a:avLst>
          </a:prstGeom>
          <a:solidFill>
            <a:srgbClr val="1E0C41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430783"/>
            <a:ext cx="1526753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RESEARCH QUESTION 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3170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Profit Margin: High vs. Low-Performing Vendors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267271"/>
            <a:ext cx="3998342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57.08%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96119" y="1831628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Vendors Mean Margin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099890"/>
            <a:ext cx="399834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95% CI: 52.73% – 61.42%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49465" y="1267271"/>
            <a:ext cx="3998416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50.66%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649465" y="1831628"/>
            <a:ext cx="3998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Vendors Mean Margin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49465" y="2099890"/>
            <a:ext cx="39984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95% CI: 46.83% – 54.49%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6119" y="2549500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Top-performing vendors appear to achieve higher profit margins, but since confidence intervals overlap slightly, this alone does not conclusively establish a statistically significant difference. A formal hypothesis test is required.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3454971"/>
            <a:ext cx="3924598" cy="1035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High-performing vendors: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Could explore selective price adjustments, cost optimization, or bundling strategies.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Low-performing vendors: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Despite higher margins, low sales volume suggests a need for better marketing, competitive pricing, or improved distribution.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8046" y="2577405"/>
            <a:ext cx="3924598" cy="20329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7886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Statistical Validation of Profit Margin Differences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876970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0207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Distinct Models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895071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Reject H0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096218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H1 Alternative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289213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H0 Null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469978"/>
            <a:ext cx="815176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null hypothesis is 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rejected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confirming that top and low-performing vendor groups operate under 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distinctly different profitability models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High-margin vendors may benefit from better pricing strategies, while top-selling vendors could focus on cost efficiency to close the gap.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6695"/>
            <a:ext cx="8151763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Recommendations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395" y="945133"/>
            <a:ext cx="177329" cy="1773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0244" y="941487"/>
            <a:ext cx="776763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Re-evaluate Brand Pricing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80244" y="1193750"/>
            <a:ext cx="776763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Adjust pricing for low-sales, high-margin brands to boost volume without sacrificing profitability.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395" y="1607418"/>
            <a:ext cx="177329" cy="1773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0244" y="1603772"/>
            <a:ext cx="776763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Diversify Vendor Partnerships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880244" y="1856036"/>
            <a:ext cx="776763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Reduce dependency on top 10 vendors (76.33% of purchases) to mitigate supply chain risks.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395" y="2269703"/>
            <a:ext cx="177329" cy="1773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0244" y="2266057"/>
            <a:ext cx="776763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Leverage Bulk Purchasing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880244" y="2518321"/>
            <a:ext cx="776763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Maintain competitive pricing and optimize inventory by capitalizing on 72% unit cost savings from bulk orders.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0395" y="2931988"/>
            <a:ext cx="177329" cy="17732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80244" y="2928342"/>
            <a:ext cx="776763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 Slow-Moving Inventory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880244" y="3180606"/>
            <a:ext cx="776763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Adjust purchase quantities, launch clearance sales, or revise storage strategies for stagnant stock.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0395" y="3594274"/>
            <a:ext cx="177329" cy="17732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80244" y="3590627"/>
            <a:ext cx="776763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 Marketing for Low Performers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880244" y="3842891"/>
            <a:ext cx="776763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Drive higher sales volumes for low-performing vendors through improved marketing and distribution strategies.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496119" y="4154314"/>
            <a:ext cx="8151763" cy="642491"/>
          </a:xfrm>
          <a:prstGeom prst="roundRect">
            <a:avLst>
              <a:gd name="adj" fmla="val 7729"/>
            </a:avLst>
          </a:prstGeom>
          <a:solidFill>
            <a:srgbClr val="183A13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288" y="4322415"/>
            <a:ext cx="147786" cy="1181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80244" y="4296519"/>
            <a:ext cx="7649468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By implementing these recommendations, the company can achieve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sustainable profitability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mitigate risks, and enhance overall operational efficiency.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2026-07-09T13:18:07Z</dcterms:created>
  <dcterms:modified xsi:type="dcterms:W3CDTF">2026-07-09T13:18:07Z</dcterms:modified>
</cp:coreProperties>
</file>